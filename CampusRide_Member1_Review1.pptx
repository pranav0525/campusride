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CampusRide — Member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Database &amp; Data Design</a:t>
            </a:r>
          </a:p>
          <a:p>
            <a:pPr>
              <a:spcAft>
                <a:spcPts val="900"/>
              </a:spcAft>
              <a:defRPr sz="1900"/>
            </a:pPr>
            <a:r>
              <a:t>Final database model and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Students do not drive. They book/pre-book Uber, Ola, Rapido or similar cabs.</a:t>
            </a:r>
          </a:p>
          <a:p>
            <a:pPr>
              <a:spcAft>
                <a:spcPts val="900"/>
              </a:spcAft>
              <a:defRPr sz="1900"/>
            </a:pPr>
            <a:r>
              <a:t>CampusRide lets students create a shared-ride entry so other students can discover and join it.</a:t>
            </a:r>
          </a:p>
          <a:p>
            <a:pPr>
              <a:spcAft>
                <a:spcPts val="900"/>
              </a:spcAft>
              <a:defRPr sz="1900"/>
            </a:pPr>
            <a:r>
              <a:t>CampusRide manages ride discovery, passengers, seats, individual fare information and optional driver/vehicle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STUDENT — users</a:t>
            </a:r>
          </a:p>
          <a:p>
            <a:pPr>
              <a:spcAft>
                <a:spcPts val="900"/>
              </a:spcAft>
              <a:defRPr sz="1900"/>
            </a:pPr>
            <a:r>
              <a:t>RIDE — shared cab trip</a:t>
            </a:r>
          </a:p>
          <a:p>
            <a:pPr>
              <a:spcAft>
                <a:spcPts val="900"/>
              </a:spcAft>
              <a:defRPr sz="1900"/>
            </a:pPr>
            <a:r>
              <a:t>LOCATION — pickup/destination</a:t>
            </a:r>
          </a:p>
          <a:p>
            <a:pPr>
              <a:spcAft>
                <a:spcPts val="900"/>
              </a:spcAft>
              <a:defRPr sz="1900"/>
            </a:pPr>
            <a:r>
              <a:t>CAB_DETAILS — external cab/driver information</a:t>
            </a:r>
          </a:p>
          <a:p>
            <a:pPr>
              <a:spcAft>
                <a:spcPts val="900"/>
              </a:spcAft>
              <a:defRPr sz="1900"/>
            </a:pPr>
            <a:r>
              <a:t>BOOKING — student participation</a:t>
            </a:r>
          </a:p>
          <a:p>
            <a:pPr>
              <a:spcAft>
                <a:spcPts val="900"/>
              </a:spcAft>
              <a:defRPr sz="1900"/>
            </a:pPr>
            <a:r>
              <a:t>RATING —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Student 1:N Ride</a:t>
            </a:r>
          </a:p>
          <a:p>
            <a:pPr>
              <a:spcAft>
                <a:spcPts val="900"/>
              </a:spcAft>
              <a:defRPr sz="1900"/>
            </a:pPr>
            <a:r>
              <a:t>Student M:N Ride is resolved through Booking</a:t>
            </a:r>
          </a:p>
          <a:p>
            <a:pPr>
              <a:spcAft>
                <a:spcPts val="900"/>
              </a:spcAft>
              <a:defRPr sz="1900"/>
            </a:pPr>
            <a:r>
              <a:t>Location 1:N Ride as pickup and destination</a:t>
            </a:r>
          </a:p>
          <a:p>
            <a:pPr>
              <a:spcAft>
                <a:spcPts val="900"/>
              </a:spcAft>
              <a:defRPr sz="1900"/>
            </a:pPr>
            <a:r>
              <a:t>Ride 1:0..1 Cab_Details</a:t>
            </a:r>
          </a:p>
          <a:p>
            <a:pPr>
              <a:spcAft>
                <a:spcPts val="900"/>
              </a:spcAft>
              <a:defRPr sz="1900"/>
            </a:pPr>
            <a:r>
              <a:t>Booking 1:0..1 Rating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STUDENT(StudentID PK, StudentName, Email UNIQUE, Phone, Gender)</a:t>
            </a:r>
          </a:p>
          <a:p>
            <a:pPr>
              <a:spcAft>
                <a:spcPts val="900"/>
              </a:spcAft>
              <a:defRPr sz="1900"/>
            </a:pPr>
            <a:r>
              <a:t>LOCATION(LocationID PK, LocationName UNIQUE, Address)</a:t>
            </a:r>
          </a:p>
          <a:p>
            <a:pPr>
              <a:spcAft>
                <a:spcPts val="900"/>
              </a:spcAft>
              <a:defRPr sz="1900"/>
            </a:pPr>
            <a:r>
              <a:t>CAB_DETAILS(CabID PK, CabApp, VehicleType, VehicleNumber, DriverName, DriverPhone)</a:t>
            </a:r>
          </a:p>
          <a:p>
            <a:pPr>
              <a:spcAft>
                <a:spcPts val="900"/>
              </a:spcAft>
              <a:defRPr sz="1900"/>
            </a:pPr>
            <a:r>
              <a:t>RIDE(RideID PK, CreatorID FK, PickupLocationID FK, DropLocationID FK, CabID FK, RideDate, RideTime, TotalFare, TotalSeats, AvailableSeats, GenderPreference, RideStatus)</a:t>
            </a:r>
          </a:p>
          <a:p>
            <a:pPr>
              <a:spcAft>
                <a:spcPts val="900"/>
              </a:spcAft>
              <a:defRPr sz="1900"/>
            </a:pPr>
            <a:r>
              <a:t>BOOKING(BookingID PK, RideID FK, StudentID FK, BookingStatus, IndividualFare, BookingDate)</a:t>
            </a:r>
          </a:p>
          <a:p>
            <a:pPr>
              <a:spcAft>
                <a:spcPts val="900"/>
              </a:spcAft>
              <a:defRPr sz="1900"/>
            </a:pPr>
            <a:r>
              <a:t>RATING(RatingID PK, BookingID FK UNIQUE, RatingValue, Comment, RatingDate)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Normalization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Design targets 3NF.</a:t>
            </a:r>
          </a:p>
          <a:p>
            <a:pPr>
              <a:spcAft>
                <a:spcPts val="900"/>
              </a:spcAft>
              <a:defRPr sz="1900"/>
            </a:pPr>
            <a:r>
              <a:t>PK/FK relationships maintain referential integrity.</a:t>
            </a:r>
          </a:p>
          <a:p>
            <a:pPr>
              <a:spcAft>
                <a:spcPts val="900"/>
              </a:spcAft>
              <a:defRPr sz="1900"/>
            </a:pPr>
            <a:r>
              <a:t>UNIQUE(RideID, StudentID) prevents duplicate participation.</a:t>
            </a:r>
          </a:p>
          <a:p>
            <a:pPr>
              <a:spcAft>
                <a:spcPts val="900"/>
              </a:spcAft>
              <a:defRPr sz="1900"/>
            </a:pPr>
            <a:r>
              <a:t>CHECK constraints validate fares, seats and ratings.</a:t>
            </a:r>
          </a:p>
          <a:p>
            <a:pPr>
              <a:spcAft>
                <a:spcPts val="900"/>
              </a:spcAft>
              <a:defRPr sz="1900"/>
            </a:pPr>
            <a:r>
              <a:t>Separate Student, Location and Cab data reduces redundancy.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SQL &amp; DBMS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DDL/DML, joins, aggregation, GROUP BY, subqueries and EXISTS.</a:t>
            </a:r>
          </a:p>
          <a:p>
            <a:pPr>
              <a:spcAft>
                <a:spcPts val="900"/>
              </a:spcAft>
              <a:defRPr sz="1900"/>
            </a:pPr>
            <a:r>
              <a:t>Views for available rides.</a:t>
            </a:r>
          </a:p>
          <a:p>
            <a:pPr>
              <a:spcAft>
                <a:spcPts val="900"/>
              </a:spcAft>
              <a:defRPr sz="1900"/>
            </a:pPr>
            <a:r>
              <a:t>Indexes for route/date and booking searches.</a:t>
            </a:r>
          </a:p>
          <a:p>
            <a:pPr>
              <a:spcAft>
                <a:spcPts val="900"/>
              </a:spcAft>
              <a:defRPr sz="1900"/>
            </a:pPr>
            <a:r>
              <a:t>Stored procedure for safe ride joining.</a:t>
            </a:r>
          </a:p>
          <a:p>
            <a:pPr>
              <a:spcAft>
                <a:spcPts val="900"/>
              </a:spcAft>
              <a:defRPr sz="1900"/>
            </a:pPr>
            <a:r>
              <a:t>EXPLAIN for query-plan inspection.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Concurrency — Last Seat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If one seat remains and two students try to join simultaneously, a race condition can cause overbooking.</a:t>
            </a:r>
          </a:p>
          <a:p>
            <a:pPr>
              <a:spcAft>
                <a:spcPts val="900"/>
              </a:spcAft>
              <a:defRPr sz="1900"/>
            </a:pPr>
            <a:r>
              <a:t>JoinRide locks the Ride row, checks availability, inserts the booking and decrements the seat count inside one transaction.</a:t>
            </a:r>
          </a:p>
          <a:p>
            <a:pPr>
              <a:spcAft>
                <a:spcPts val="900"/>
              </a:spcAft>
              <a:defRPr sz="1900"/>
            </a:pPr>
            <a:r>
              <a:t>This provides a concrete application of ACID/concurrency concepts.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Member 1 Final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ER diagram and relational schema</a:t>
            </a:r>
          </a:p>
          <a:p>
            <a:pPr>
              <a:spcAft>
                <a:spcPts val="900"/>
              </a:spcAft>
              <a:defRPr sz="1900"/>
            </a:pPr>
            <a:r>
              <a:t>Functional dependencies and normalization</a:t>
            </a:r>
          </a:p>
          <a:p>
            <a:pPr>
              <a:spcAft>
                <a:spcPts val="900"/>
              </a:spcAft>
              <a:defRPr sz="1900"/>
            </a:pPr>
            <a:r>
              <a:t>MySQL database, constraints and sample data</a:t>
            </a:r>
          </a:p>
          <a:p>
            <a:pPr>
              <a:spcAft>
                <a:spcPts val="900"/>
              </a:spcAft>
              <a:defRPr sz="1900"/>
            </a:pPr>
            <a:r>
              <a:t>SQL queries and views</a:t>
            </a:r>
          </a:p>
          <a:p>
            <a:pPr>
              <a:spcAft>
                <a:spcPts val="900"/>
              </a:spcAft>
              <a:defRPr sz="1900"/>
            </a:pPr>
            <a:r>
              <a:t>Indexes and query optimization</a:t>
            </a:r>
          </a:p>
          <a:p>
            <a:pPr>
              <a:spcAft>
                <a:spcPts val="900"/>
              </a:spcAft>
              <a:defRPr sz="1900"/>
            </a:pPr>
            <a:r>
              <a:t>Booking transaction procedure and testing</a:t>
            </a:r>
          </a:p>
          <a:p>
            <a:pPr>
              <a:spcAft>
                <a:spcPts val="900"/>
              </a:spcAft>
              <a:defRPr sz="1900"/>
            </a:pPr>
            <a:r>
              <a:t>Documentation for backend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STUDENT → creates → RIDE</a:t>
            </a:r>
          </a:p>
          <a:p>
            <a:pPr>
              <a:spcAft>
                <a:spcPts val="900"/>
              </a:spcAft>
              <a:defRPr sz="1900"/>
            </a:pPr>
            <a:r>
              <a:t>STUDENT ↔ RIDE → BOOKING</a:t>
            </a:r>
          </a:p>
          <a:p>
            <a:pPr>
              <a:spcAft>
                <a:spcPts val="900"/>
              </a:spcAft>
              <a:defRPr sz="1900"/>
            </a:pPr>
            <a:r>
              <a:t>RIDE → pickup/drop → LOCATION</a:t>
            </a:r>
          </a:p>
          <a:p>
            <a:pPr>
              <a:spcAft>
                <a:spcPts val="900"/>
              </a:spcAft>
              <a:defRPr sz="1900"/>
            </a:pPr>
            <a:r>
              <a:t>RIDE → CAB_DETAILS</a:t>
            </a:r>
          </a:p>
          <a:p>
            <a:pPr>
              <a:spcAft>
                <a:spcPts val="900"/>
              </a:spcAft>
              <a:defRPr sz="1900"/>
            </a:pPr>
            <a:r>
              <a:t>BOOKING → RATING</a:t>
            </a:r>
          </a:p>
          <a:p>
            <a:pPr>
              <a:spcAft>
                <a:spcPts val="900"/>
              </a:spcAft>
              <a:defRPr sz="1900"/>
            </a:pPr>
            <a:r>
              <a:t>Six core tables keep the model manageable and aligned with the actual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Backend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Frontend → Backend / REST API → MySQL CampusRide</a:t>
            </a:r>
          </a:p>
          <a:p>
            <a:pPr>
              <a:spcAft>
                <a:spcPts val="1200"/>
              </a:spcAft>
              <a:defRPr sz="2000"/>
            </a:pPr>
            <a:r>
              <a:t>Frontend must not connect directly to MySQL; the backend owns credentials and database access.</a:t>
            </a:r>
          </a:p>
          <a:p>
            <a:pPr>
              <a:spcAft>
                <a:spcPts val="1200"/>
              </a:spcAft>
              <a:defRPr sz="2000"/>
            </a:pPr>
            <a:r>
              <a:t>Suggested APIs: available rides, ride details, create ride, join ride, booking history and ratings.</a:t>
            </a:r>
          </a:p>
          <a:p>
            <a:pPr>
              <a:spcAft>
                <a:spcPts val="1200"/>
              </a:spcAft>
              <a:defRPr sz="2000"/>
            </a:pPr>
            <a:r>
              <a:t>Backend should use the AvailableRides view for discovery and JoinRide for safe seat booking.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DONE: ER model, relational schema, six MySQL tables, keys/constraints, normalization, sample data, SQL, view, indexes and JoinRide transaction.</a:t>
            </a:r>
          </a:p>
          <a:p>
            <a:pPr>
              <a:spcAft>
                <a:spcPts val="1200"/>
              </a:spcAft>
              <a:defRPr sz="2000"/>
            </a:pPr>
            <a:r>
              <a:t>VERIFIED: Database runs successfully in MySQL Workbench and all six tables are accessible.</a:t>
            </a:r>
          </a:p>
          <a:p>
            <a:pPr>
              <a:spcAft>
                <a:spcPts val="1200"/>
              </a:spcAft>
              <a:defRPr sz="2000"/>
            </a:pPr>
            <a:r>
              <a:t>PENDING: Backend/API implementation and MySQL integration.</a:t>
            </a:r>
          </a:p>
          <a:p>
            <a:pPr>
              <a:spcAft>
                <a:spcPts val="1200"/>
              </a:spcAft>
              <a:defRPr sz="2000"/>
            </a:pPr>
            <a:r>
              <a:t>PENDING: Frontend → backend integration and end-to-end testing.</a:t>
            </a:r>
          </a:p>
          <a:p>
            <a:pPr>
              <a:spcAft>
                <a:spcPts val="1200"/>
              </a:spcAft>
              <a:defRPr sz="2000"/>
            </a:pPr>
            <a:r>
              <a:t>Final concurrency testing will verify the last-seat scenario through the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